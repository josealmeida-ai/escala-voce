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Escala </a:t>
            </a:r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</a:rPr>
              <a:t>Você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1E3A8A">
              <a:alpha val="6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0A5FA"/>
                </a:solidFill>
              </a:rPr>
              <a:t>🚀  PROGRAMA DE DESENVOLVIMENTO PARA EMPREENDEDORES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O negócio está crescendo, e você sente que precisa </a:t>
            </a:r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60A5FA"/>
                </a:solidFill>
              </a:rPr>
              <a:t>crescer junto?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</a:rPr>
              <a:t>Em 8 semanas, desenvolva clareza, foco e capacidades de liderança para conduzir a próxima fase do seu negócio — sem perder o que é importante para você.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623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</a:rPr>
              <a:t>SEMANAS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03120" y="5623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</a:rPr>
              <a:t>ENCONTROS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74520" y="5623560"/>
            <a:ext cx="0" cy="777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5623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</a:rPr>
              <a:t>MÓDULOS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29000" y="5623560"/>
            <a:ext cx="0" cy="7772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</a:rPr>
              <a:t>FUNDAMENTO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</a:rPr>
              <a:t>Sobre o Escala Você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"O negócio é reflexo de quem o empreendedor é."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418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O Escala Você parte de uma tese simples: quando o empreendedor cresce, o negócio cresce junto. 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172A"/>
                </a:solidFill>
              </a:rPr>
              <a:t>Por isso o foco do programa não é apenas a empresa — é desenvolver a pessoa que está construindo a empresa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, trazendo clareza, foco e capacidades de liderança para conduzir a próxima fase do negócio.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75569"/>
                </a:solidFill>
              </a:rPr>
              <a:t>Um processo estruturado e individual, fundamentado em metodologias reconhecidas internacionalmente, para avaliar opções, tomar decisões melhores e traçar um plano estratégico e viável para o seu momento.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5120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Gallup CliftonStrengths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452628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08960" y="5120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Barrett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452628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94960" y="5120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OKRs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89520" y="452628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89520" y="4617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680960" y="5120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Positive Intelligence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O ESCALA VOCÊ É PARA VOCÊ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9436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Você já se pegou pensando: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75808" y="114300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495148" y="141732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9740" y="16184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65974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6668" y="1508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“Não sei se estou no caminho certo.”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89908" y="141732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54500" y="16184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/>
        </p:spPr>
      </p:sp>
      <p:sp>
        <p:nvSpPr>
          <p:cNvPr id="11" name="Text 9"/>
          <p:cNvSpPr/>
          <p:nvPr/>
        </p:nvSpPr>
        <p:spPr>
          <a:xfrm>
            <a:off x="445450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1428" y="1508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“Tenho muitas ideias e não consigo decidir qual seguir.”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84668" y="141732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49260" y="161848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CE8"/>
          </a:solidFill>
          <a:ln/>
        </p:spPr>
      </p:sp>
      <p:sp>
        <p:nvSpPr>
          <p:cNvPr id="15" name="Text 13"/>
          <p:cNvSpPr/>
          <p:nvPr/>
        </p:nvSpPr>
        <p:spPr>
          <a:xfrm>
            <a:off x="8249260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16188" y="15087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“Trabalho o dia inteiro e parece que não produzi nada.”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5148" y="246888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9740" y="2670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6597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26668" y="2560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“Quero crescer mas fico todo tempo apagando incêndios.”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89908" y="246888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54500" y="2670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445450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1428" y="2560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“Meu negócio depende demais de mim.”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84668" y="246888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49260" y="267004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/>
        </p:spPr>
      </p:sp>
      <p:sp>
        <p:nvSpPr>
          <p:cNvPr id="27" name="Text 25"/>
          <p:cNvSpPr/>
          <p:nvPr/>
        </p:nvSpPr>
        <p:spPr>
          <a:xfrm>
            <a:off x="824926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🤝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16188" y="2560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“Tenho dificuldade para delegar.”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5148" y="352044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9740" y="37216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CE8"/>
          </a:solidFill>
          <a:ln/>
        </p:spPr>
      </p:sp>
      <p:sp>
        <p:nvSpPr>
          <p:cNvPr id="31" name="Text 29"/>
          <p:cNvSpPr/>
          <p:nvPr/>
        </p:nvSpPr>
        <p:spPr>
          <a:xfrm>
            <a:off x="65974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26668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“Não sei exatamente qual deve ser meu próximo passo.”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89908" y="352044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54500" y="37216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/>
        </p:spPr>
      </p:sp>
      <p:sp>
        <p:nvSpPr>
          <p:cNvPr id="35" name="Text 33"/>
          <p:cNvSpPr/>
          <p:nvPr/>
        </p:nvSpPr>
        <p:spPr>
          <a:xfrm>
            <a:off x="445450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21428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“O negócio está consumindo minha vida.”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84668" y="352044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49260" y="372160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/>
        </p:spPr>
      </p:sp>
      <p:sp>
        <p:nvSpPr>
          <p:cNvPr id="39" name="Text 37"/>
          <p:cNvSpPr/>
          <p:nvPr/>
        </p:nvSpPr>
        <p:spPr>
          <a:xfrm>
            <a:off x="8249260" y="3721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🏃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16188" y="3611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“Sei o que preciso fazer, mas não consigo manter a disciplina.”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5148" y="4663440"/>
            <a:ext cx="11201400" cy="960120"/>
          </a:xfrm>
          <a:prstGeom prst="roundRect">
            <a:avLst>
              <a:gd name="adj" fmla="val 11429"/>
            </a:avLst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0908" y="4754880"/>
            <a:ext cx="10469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Se você respondeu </a:t>
            </a:r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DE047"/>
                </a:solidFill>
              </a:rPr>
              <a:t>"sim"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 para algumas dessas perguntas, provavelmente o desafio não está apenas na empresa. Está na forma como você está </a:t>
            </a:r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DE047"/>
                </a:solidFill>
              </a:rPr>
              <a:t>liderando essa fase do negócio.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200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9436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O que você vai conquistar?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75808" y="114300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1203808" y="150876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EFF6FF"/>
          </a:solidFill>
          <a:ln/>
        </p:spPr>
      </p:sp>
      <p:sp>
        <p:nvSpPr>
          <p:cNvPr id="6" name="Text 4"/>
          <p:cNvSpPr/>
          <p:nvPr/>
        </p:nvSpPr>
        <p:spPr>
          <a:xfrm>
            <a:off x="1478128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CLAREZA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8128" y="21031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Visão clara da direção do negócio e do seu papel como líder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Avaliação de opções e definição de prioridades reais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33008" y="150876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6507328" y="1691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</a:rPr>
              <a:t>FOCO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07328" y="210312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Alinhamento de objetivos de curto, médio e longo prazo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Energia direcionada ao que realmente importa para crescer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03808" y="352044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/>
        </p:spPr>
      </p:sp>
      <p:sp>
        <p:nvSpPr>
          <p:cNvPr id="12" name="Text 10"/>
          <p:cNvSpPr/>
          <p:nvPr/>
        </p:nvSpPr>
        <p:spPr>
          <a:xfrm>
            <a:off x="1478128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CONFIANÇA E LIDERANÇA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8128" y="41148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Liderança mais consciente para inspirar e engajar a equipe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Capacidade real de delegar e confiar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3520440"/>
            <a:ext cx="4754880" cy="173736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6507328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</a:rPr>
              <a:t>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07328" y="411480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Plano estratégico de 90 dias pronto para execução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</a:rPr>
              <a:t>Ferramentas práticas para gerir o negócio no dia a dia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47208" y="283464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21528" y="310896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5821528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FFFFFF"/>
                </a:solidFill>
              </a:rPr>
              <a:t>📈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1371600" y="612648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Resultados de longo prazo: 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mais clareza, negócio alinhado aos seus objetivos de vida, liderança mais forte e crescimento sustentável.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PROGRAMA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64008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 Jornada Escala Você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75808" y="118872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46608" y="18288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6608" y="1828800"/>
            <a:ext cx="5120640" cy="109728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1112368" y="219456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11236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12368" y="3108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D4ED8"/>
                </a:solidFill>
              </a:rPr>
              <a:t>MÓDULO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2368" y="3383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Quem sou como empreendedor?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12368" y="40233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Que tipo de negócio eu quero construir para sustentar a vida que eu quero viver?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4448" y="182880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24448" y="1828800"/>
            <a:ext cx="5120640" cy="109728"/>
          </a:xfrm>
          <a:prstGeom prst="roundRect">
            <a:avLst/>
          </a:prstGeom>
          <a:solidFill>
            <a:srgbClr val="4338CA"/>
          </a:solidFill>
          <a:ln/>
        </p:spPr>
      </p:sp>
      <p:sp>
        <p:nvSpPr>
          <p:cNvPr id="14" name="Shape 12"/>
          <p:cNvSpPr/>
          <p:nvPr/>
        </p:nvSpPr>
        <p:spPr>
          <a:xfrm>
            <a:off x="6690208" y="219456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4338CA"/>
          </a:solidFill>
          <a:ln/>
        </p:spPr>
      </p:sp>
      <p:sp>
        <p:nvSpPr>
          <p:cNvPr id="15" name="Text 13"/>
          <p:cNvSpPr/>
          <p:nvPr/>
        </p:nvSpPr>
        <p:spPr>
          <a:xfrm>
            <a:off x="669020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90208" y="3108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338CA"/>
                </a:solidFill>
              </a:rPr>
              <a:t>MÓDULO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90208" y="33832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Minha estratégia como empreendedor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90208" y="40233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Como transformo essa visão em prioridades e metas concretas?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PROGRAMA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3035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Conteúdo dos módulos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75808" y="1024128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518008" y="1371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</a:rPr>
              <a:t>Módulo 1: Eu como empreendedor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8008" y="178308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7" name="Shape 5"/>
          <p:cNvSpPr/>
          <p:nvPr/>
        </p:nvSpPr>
        <p:spPr>
          <a:xfrm>
            <a:off x="655168" y="19751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655168" y="1975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648" y="182880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Diagnóstico inicial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 (Ikigai e visão futura) para transformar frustrações e incertezas em uma direção estratégica clara e intencional.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8008" y="260604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11" name="Shape 9"/>
          <p:cNvSpPr/>
          <p:nvPr/>
        </p:nvSpPr>
        <p:spPr>
          <a:xfrm>
            <a:off x="655168" y="279806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8" y="27980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648" y="265176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DNA empreendedor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. Mapeia talentos naturais (Strengths) para criar um mapa de fortalezas e identificar a zona de gênio e sabotadores.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8008" y="34290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168" y="36210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8" y="3621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6648" y="347472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Proposta de Valor Profissional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: integra a história de vida ao propósito, usando dores superadas como diferencial competitivo.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8008" y="425196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55168" y="444398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655168" y="4443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6648" y="429768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Alinhamento de vida e negócio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. Garante que o modelo do negócio e os valores do fundador sustentem a vida desejada sem drenar sua energia.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8728" y="13716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338CA"/>
                </a:solidFill>
              </a:rPr>
              <a:t>Módulo 2: Minha estratégia como empreendedor (OKRs)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78728" y="201168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15888" y="220370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/>
        </p:spPr>
      </p:sp>
      <p:sp>
        <p:nvSpPr>
          <p:cNvPr id="25" name="Text 23"/>
          <p:cNvSpPr/>
          <p:nvPr/>
        </p:nvSpPr>
        <p:spPr>
          <a:xfrm>
            <a:off x="6415888" y="2203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27368" y="205740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OKRs pessoais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. Faz um mapeamento financeiro e de tempo disponível para estabelecer as primeiras hipóteses de metas do negócio.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78728" y="283464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15888" y="302666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/>
        </p:spPr>
      </p:sp>
      <p:sp>
        <p:nvSpPr>
          <p:cNvPr id="29" name="Text 27"/>
          <p:cNvSpPr/>
          <p:nvPr/>
        </p:nvSpPr>
        <p:spPr>
          <a:xfrm>
            <a:off x="6415888" y="30266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27368" y="288036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Teste de viabilidade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. Aplica um choque de realidade numérico para refinar e validar se as metas financeiras e de tempo estipuladas são viáveis.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576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EEF2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15888" y="384962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/>
        </p:spPr>
      </p:sp>
      <p:sp>
        <p:nvSpPr>
          <p:cNvPr id="33" name="Text 31"/>
          <p:cNvSpPr/>
          <p:nvPr/>
        </p:nvSpPr>
        <p:spPr>
          <a:xfrm>
            <a:off x="641588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27368" y="370332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Fechamento dos OKRs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. Combate distrações, prioriza projetos de alto retorno (Zona Mágica) e consolida um plano prático focado na execução.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FORMATO INDIVIDUAL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3035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Como funciona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75808" y="1024128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92328" y="132588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975208" y="1399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Duração total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75208" y="1618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 semanas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4208" y="132588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4587088" y="1399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Total de encontros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87088" y="1618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 encontros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16088" y="132588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8198968" y="13990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</a:rPr>
              <a:t>Duração dos encontros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198968" y="16184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1,5h cada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2328" y="21488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20928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sp>
        <p:nvSpPr>
          <p:cNvPr id="16" name="Text 14"/>
          <p:cNvSpPr/>
          <p:nvPr/>
        </p:nvSpPr>
        <p:spPr>
          <a:xfrm>
            <a:off x="102092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0928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</a:rPr>
              <a:t>MÓDULO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20928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Quem sou como empreendedor?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20928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4 encontros · 3 assessments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Duração: 4 semanas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0928" y="438912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1158088" y="4462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Investimento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8088" y="4645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R$ 3.800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04208" y="21488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32808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463280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32808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338CA"/>
                </a:solidFill>
              </a:rPr>
              <a:t>MÓDULO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32808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Minha estratégia como empreendedor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32808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3 encontros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Duração: 4 semanas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32808" y="438912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4769968" y="4462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Investimento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69968" y="4645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</a:rPr>
              <a:t>R$ 2.800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016088" y="21488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07728" y="19842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34" name="Text 32"/>
          <p:cNvSpPr/>
          <p:nvPr/>
        </p:nvSpPr>
        <p:spPr>
          <a:xfrm>
            <a:off x="9707728" y="1984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MELHOR ESCOLHA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44688" y="23774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244688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44688" y="29718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</a:rPr>
              <a:t>MÓDULO 1 + MÓDULO 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244688" y="32004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Programa Completo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244688" y="38404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7 encontros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Duração: 8 semanas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244688" y="438912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381848" y="44622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Investimento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81848" y="4645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R$ 6.000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381848" y="50109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✨ Economia de R$ 600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2328" y="54406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Encontros individuais 1:1 · Exercícios práticos entre os encontros · Apoio de IA para continuidade · Acompanhamento contínuo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FORMATO EM GRUPO · ATÉ 3 PESSOAS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3035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Uma opção mais acessível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75808" y="1024128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92328" y="14630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0928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1020928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0928" y="2286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</a:rPr>
              <a:t>MÓDULO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0928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Quem sou como empreendedor? *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20928" y="3154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4 encontros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Duração: 4 semanas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20928" y="370332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1158088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Investimento por pessoa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8088" y="3959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R$ 1.350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404208" y="14630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32808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EF2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32808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32808" y="2286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338CA"/>
                </a:solidFill>
              </a:rPr>
              <a:t>MÓDULO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32808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Minha estratégia como empreendedor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32808" y="3154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3 encontros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Duração: 4 semanas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32808" y="370332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769968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Investimento por pessoa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69968" y="3959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38CA"/>
                </a:solidFill>
              </a:rPr>
              <a:t>R$ 1.000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016088" y="1463040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707728" y="129844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9707728" y="12984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MELHOR ESCOLHA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244688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8244688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44688" y="2286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4ED8"/>
                </a:solidFill>
              </a:rPr>
              <a:t>MÓDULO 1 + MÓDULO 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44688" y="2514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Programa Completo *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244688" y="315468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7 encontros</a:t>
            </a:r>
            <a:endParaRPr lang="en-US" sz="10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Duração: 8 semanas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44688" y="370332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81848" y="37764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Investimento por pessoa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81848" y="39593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R$ 2.000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81848" y="43251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✨ Economia de R$ 350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71600" y="635508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* No formato em grupo, o Módulo 1 não prevê a realização do assessment individual Gallup StrengthsFinder.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POR QUE ESCOLHER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3035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Por que funciona?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75808" y="1024128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46608" y="128016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4338CA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12368" y="1417320"/>
            <a:ext cx="9966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Não trabalhamos apenas o negócio. Trabalhamos </a:t>
            </a:r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DE047"/>
                </a:solidFill>
              </a:rPr>
              <a:t>a pessoa que lidera o negócio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 — o seu bem-estar e a sua forma única de fazer a diferença.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6608" y="24231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20928" y="25877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1. </a:t>
            </a:r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Abordagem individual e personalizada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20928" y="2926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Encontros 1:1, sem turmas — atenção total ao seu contexto e ritmo, com exercícios práticos entre os encontros e apoio de IA para dar continuidade à reflexão.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3008" y="24231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07328" y="25877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2. </a:t>
            </a:r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Metodologias reconhecidas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07328" y="29260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Gallup CliftonStrengths, Barrett Values, OKRs e Positive Intelligence, aplicados de forma prática ao seu momento.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6608" y="411480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0928" y="42793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3. </a:t>
            </a:r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Facilitadores experientes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20928" y="4617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Marina Chekmysheva (+450 mentorados) e José Almeida (16 anos escalando a BuscaOnibus a 4 milhões de usuários/mês) conduzem o programa lado a lado com você.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33008" y="411480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7328" y="42793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</a:rPr>
              <a:t>4. </a:t>
            </a:r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Resultado prático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07328" y="46177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O programa termina com um plano estratégico de 90 dias, pronto para ser executado — não fica só na reflexão.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64008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 transformação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775808" y="1188720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746608" y="164592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66648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✕  Antes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66648" y="24688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✖"/>
            </a:pPr>
            <a:r>
              <a:rPr lang="en-US" sz="1300" dirty="0">
                <a:solidFill>
                  <a:srgbClr val="334155"/>
                </a:solidFill>
              </a:rPr>
              <a:t>Excesso de trabalho e sobrecarga constante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✖"/>
            </a:pPr>
            <a:r>
              <a:rPr lang="en-US" sz="1300" dirty="0">
                <a:solidFill>
                  <a:srgbClr val="334155"/>
                </a:solidFill>
              </a:rPr>
              <a:t>Dúvidas que não deixam o negócio avançar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✖"/>
            </a:pPr>
            <a:r>
              <a:rPr lang="en-US" sz="1300" dirty="0">
                <a:solidFill>
                  <a:srgbClr val="334155"/>
                </a:solidFill>
              </a:rPr>
              <a:t>Falta de foco e dispersão de energia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✖"/>
            </a:pPr>
            <a:r>
              <a:rPr lang="en-US" sz="1300" dirty="0">
                <a:solidFill>
                  <a:srgbClr val="334155"/>
                </a:solidFill>
              </a:rPr>
              <a:t>Dificuldade para liderar e inspirar a equipe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✖"/>
            </a:pPr>
            <a:r>
              <a:rPr lang="en-US" sz="1300" dirty="0">
                <a:solidFill>
                  <a:srgbClr val="334155"/>
                </a:solidFill>
              </a:rPr>
              <a:t>Prioridades confusas e urgências constantes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4448" y="164592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254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44488" y="19202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</a:rPr>
              <a:t>✓  Depois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44488" y="2468880"/>
            <a:ext cx="44805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</a:rPr>
              <a:t>Clareza sobre a direção do negócio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</a:rPr>
              <a:t>Foco no que realmente importa para crescer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</a:rPr>
              <a:t>Liderança mais consciente e eficaz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</a:rPr>
              <a:t>Capacidade real de delegar e confiar</a:t>
            </a:r>
            <a:endParaRPr lang="en-US" sz="1300" dirty="0"/>
          </a:p>
          <a:p>
            <a:pPr marL="342900" indent="-342900">
              <a:lnSpc>
                <a:spcPts val="2600"/>
              </a:lnSpc>
              <a:buSzPct val="100000"/>
              <a:buChar char="✓"/>
            </a:pPr>
            <a:r>
              <a:rPr lang="en-US" sz="1300" dirty="0">
                <a:solidFill>
                  <a:srgbClr val="334155"/>
                </a:solidFill>
              </a:rPr>
              <a:t>Empresa alinhada aos seus objetivos de vida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</a:rPr>
              <a:t>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530352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Quem guiará você nesta jornada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775808" y="1024128"/>
            <a:ext cx="640080" cy="5486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18008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C:\Users\jaasa\AppData\Local\Temp\claude\c--Dev-escala-voce\acec037a-a87b-4f5a-a10e-0610f51ce7dc\scratchpad\pptx-gen\perfil-mari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691640"/>
            <a:ext cx="1005840" cy="100584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81048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Marina Chekmysheva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81048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Consultora internacional de desenvolvimento humano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38048" y="288036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Mais de 15 anos de experiência em consultoria e gestão de pessoas, atuando no Brasil, Rússia, Índia, Chile, Argentina e México.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Já acompanhou mais de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450 mentorados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 em processos de desenvolvimento e transição de carreira.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Criadora da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D4ED8"/>
                </a:solidFill>
              </a:rPr>
              <a:t>metodologia Realizar-Se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, combinando desenvolvimento humano, estratégia e IA como apoio à reflexão.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8728" y="13716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C:\Users\jaasa\AppData\Local\Temp\claude\c--Dev-escala-voce\acec037a-a87b-4f5a-a10e-0610f51ce7dc\scratchpad\pptx-gen\perfil-j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1691640"/>
            <a:ext cx="1005840" cy="1005840"/>
          </a:xfrm>
          <a:prstGeom prst="ellipse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41768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José Almeida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41768" y="20848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</a:rPr>
              <a:t>Engenheiro de software internacional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598768" y="288036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Mais de 20 anos em tecnologia e gestão de negócios digitais em Portugal, Reino Unido e Brasil.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Liderou por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16 anos toda a jornada da BuscaOnibus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, escalando a plataforma até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0F172A"/>
                </a:solidFill>
              </a:rPr>
              <a:t>4 milhões de usuários mensais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 e conduzindo o Exit para um grupo internacional.
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Especialista na implementação prática da </a:t>
            </a:r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4338CA"/>
                </a:solidFill>
              </a:rPr>
              <a:t>metodologia OKR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 para transformar prioridades em execução real.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55448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DBEAF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Pronto para dar o</a:t>
            </a:r>
            <a:endParaRPr lang="en-US" sz="26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600" b="1" dirty="0">
                <a:solidFill>
                  <a:srgbClr val="0F172A"/>
                </a:solidFill>
              </a:rPr>
              <a:t>próximo passo?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75569"/>
                </a:solidFill>
              </a:rPr>
              <a:t>Se fizer sentido para você, seguimos juntos nesse processo com clareza e consciência.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214884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DCFCE7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8952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Celular / WhatsApp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+55 (48) 99117-2456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320040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00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58952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Website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895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escala-voce.web.app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814255" y="6355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Escala Você ·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219456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5547208" y="2194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OBRIGADO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0A5FA"/>
                </a:solidFill>
              </a:rPr>
              <a:t>Escala Você — Programa de Desenvolvimento para Empreendedores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Escala Você — Apresentação</dc:title>
  <dc:subject>PptxGenJS Presentation</dc:subject>
  <dc:creator>Escala Você</dc:creator>
  <cp:lastModifiedBy>Escala Você</cp:lastModifiedBy>
  <cp:revision>1</cp:revision>
  <dcterms:created xsi:type="dcterms:W3CDTF">2026-07-02T13:51:32Z</dcterms:created>
  <dcterms:modified xsi:type="dcterms:W3CDTF">2026-07-02T13:51:32Z</dcterms:modified>
</cp:coreProperties>
</file>